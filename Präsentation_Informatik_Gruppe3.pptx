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6" r:id="rId6"/>
    <p:sldId id="287" r:id="rId7"/>
    <p:sldId id="269" r:id="rId8"/>
    <p:sldId id="286" r:id="rId9"/>
    <p:sldId id="272" r:id="rId10"/>
    <p:sldId id="274" r:id="rId11"/>
    <p:sldId id="275" r:id="rId12"/>
    <p:sldId id="276" r:id="rId13"/>
    <p:sldId id="277" r:id="rId14"/>
    <p:sldId id="278" r:id="rId15"/>
    <p:sldId id="281" r:id="rId16"/>
    <p:sldId id="279" r:id="rId17"/>
    <p:sldId id="280" r:id="rId18"/>
    <p:sldId id="283" r:id="rId19"/>
    <p:sldId id="285" r:id="rId20"/>
    <p:sldId id="284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1E293B"/>
    <a:srgbClr val="3AC5FF"/>
    <a:srgbClr val="3AC4FF"/>
    <a:srgbClr val="08317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2B99D-2C3E-7D93-1419-64FCA5C94E14}" v="5" dt="2026-02-03T16:59:26.9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8" d="100"/>
          <a:sy n="78" d="100"/>
        </p:scale>
        <p:origin x="1230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0861CE-D3E6-454B-8DC4-E8066910506D}" type="datetimeFigureOut">
              <a:t>04.02.2026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592F7E-A015-4C2B-9252-88C395FFAAB9}" type="slidenum"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59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92F7E-A015-4C2B-9252-88C395FFAAB9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5171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Code </a:t>
            </a:r>
            <a:r>
              <a:rPr lang="en-US" dirty="0" err="1">
                <a:ea typeface="Calibri"/>
                <a:cs typeface="Calibri"/>
              </a:rPr>
              <a:t>erklären</a:t>
            </a:r>
            <a:r>
              <a:rPr lang="en-US" dirty="0">
                <a:ea typeface="Calibri"/>
                <a:cs typeface="Calibri"/>
              </a:rPr>
              <a:t> Zeile für Zeile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92F7E-A015-4C2B-9252-88C395FFAAB9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3138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Befehle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einzelt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erklären</a:t>
            </a:r>
            <a:r>
              <a:rPr lang="en-US" dirty="0">
                <a:ea typeface="Calibri"/>
                <a:cs typeface="Calibri"/>
              </a:rPr>
              <a:t> (</a:t>
            </a:r>
            <a:r>
              <a:rPr lang="en-US" dirty="0" err="1">
                <a:ea typeface="Calibri"/>
                <a:cs typeface="Calibri"/>
              </a:rPr>
              <a:t>bissle</a:t>
            </a:r>
            <a:r>
              <a:rPr lang="en-US" dirty="0">
                <a:ea typeface="Calibri"/>
                <a:cs typeface="Calibri"/>
              </a:rPr>
              <a:t> ins </a:t>
            </a:r>
            <a:r>
              <a:rPr lang="en-US" dirty="0" err="1">
                <a:ea typeface="Calibri"/>
                <a:cs typeface="Calibri"/>
              </a:rPr>
              <a:t>Deitei</a:t>
            </a:r>
            <a:r>
              <a:rPr lang="en-US" dirty="0">
                <a:ea typeface="Calibri"/>
                <a:cs typeface="Calibri"/>
              </a:rPr>
              <a:t>) </a:t>
            </a:r>
            <a:r>
              <a:rPr lang="en-US" dirty="0" err="1">
                <a:ea typeface="Calibri"/>
                <a:cs typeface="Calibri"/>
              </a:rPr>
              <a:t>ung</a:t>
            </a:r>
            <a:r>
              <a:rPr lang="en-US" dirty="0">
                <a:ea typeface="Calibri"/>
                <a:cs typeface="Calibri"/>
              </a:rPr>
              <a:t>. 1 </a:t>
            </a:r>
            <a:r>
              <a:rPr lang="en-US" dirty="0" err="1">
                <a:ea typeface="Calibri"/>
                <a:cs typeface="Calibri"/>
              </a:rPr>
              <a:t>satz</a:t>
            </a:r>
            <a:r>
              <a:rPr lang="en-US" dirty="0">
                <a:ea typeface="Calibri"/>
                <a:cs typeface="Calibri"/>
              </a:rPr>
              <a:t> pro </a:t>
            </a:r>
            <a:r>
              <a:rPr lang="en-US" dirty="0" err="1">
                <a:ea typeface="Calibri"/>
                <a:cs typeface="Calibri"/>
              </a:rPr>
              <a:t>Anpassung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92F7E-A015-4C2B-9252-88C395FFAAB9}" type="slidenum"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06041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Von den ifs </a:t>
            </a:r>
            <a:r>
              <a:rPr lang="en-US" dirty="0" err="1">
                <a:ea typeface="Calibri"/>
                <a:cs typeface="Calibri"/>
              </a:rPr>
              <a:t>einzelnd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erklären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sonst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gesammte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Funktionsweise</a:t>
            </a:r>
            <a:r>
              <a:rPr lang="en-US" dirty="0">
                <a:ea typeface="Calibri"/>
                <a:cs typeface="Calibri"/>
              </a:rPr>
              <a:t> von Debug Info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6592F7E-A015-4C2B-9252-88C395FFAAB9}" type="slidenum"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9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C1E0E2-B332-4675-ACE3-204F00B86C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3FBFD8F-ACCF-4390-A302-D7FAF8E97F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930BA1-5B37-4FF6-A45E-B3BCDF849D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70E4C0-FD60-4996-990F-203F8581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3EAA368-9048-46DB-A149-F69E20693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785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08A41F7-4698-4891-AAB6-1ECC55395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6F142-17C8-4448-A1D4-BAB79B3583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C447919-9BFD-4F75-8886-F9DD29A3C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5D9DA96-C0B1-412F-939F-BA89B03F5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86D676-2A20-4DD7-A141-AEF7F4D06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485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1DA254-C6E2-4F31-BF9C-3857B8547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7A59B6-D78D-4E5A-A89C-0B7DD6319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A549EF3-62AA-4F45-A4EE-844D94DEA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5A9FD39-6033-407A-AAC3-95BD681D1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801BDD2-55AC-4343-B9EF-8E765EBAC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018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CDE05B-2013-416F-AA5F-B7566BFBF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48347D-86EA-4C34-BEC7-81B2B90725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3A96991-FCCA-4829-81DD-F5517A2EF6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4FB16F-BFE1-4463-AF70-7182535D9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4E05CEA-3F89-4008-B7E3-A3E5D59F1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76D3684-69BF-45C4-B502-DBDD26FE3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0505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782BD6-BC83-45EF-9984-C5F36EE7F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4C054F5-8C0C-4C20-8940-949FA591BC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714B1EE-AD83-4BDF-88EE-E9562180E4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DF6ABE-F19C-47D2-84BC-338D94C897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2DB63DC-E0C7-4155-B56C-BEDB1D695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CC39311-6A0B-4CFE-BA0C-E7B95AFA1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D15E59B-A8D4-44EC-BE14-971D39A3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66BCDA3-4216-458C-9DEA-B978A64B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0442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F8F355-B42E-4221-A2B7-947D2DFC4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7FAE97-4750-483D-BC94-CD3F507B3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136F75-FD6F-48EB-8523-962D44AB7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3B70648-53FF-4AEA-9083-1EBD0F50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03634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8884F14-659A-4206-BB93-A34147899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B8F85D1B-A23B-40C0-9B6F-9B07F49E22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7ADD71-DEA5-4D10-B9B7-AF335006C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43346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99A51E-8F42-40B3-A9D1-23E9979BD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05E336-F1BC-4B5E-A535-9EC4A01035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7075606-CF15-48FC-8436-7D53FB1A8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F277C34-C55E-424D-A656-3F6DC7B5A5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44FF05B-D3B4-4FBF-9732-0903FBFA4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AA4D96-74BF-4590-A8E9-8D1BB942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5176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F680DE-201B-465C-B4DB-7E04FA5D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5511911-9391-4D21-A6EE-479E606D52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1AD58BF-C5CB-4797-92E2-166061800B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1264DCE-5743-418D-90B5-5C40369C6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8EE8B5-47BA-4978-A9B1-03E93B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121DF72-3F29-4EF0-9DC4-37CA65028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3917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24A637-290E-4B8A-84F1-8336D3F1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F196FD0-C268-4624-89E7-1732EE3B3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A6BA54-EBEF-4F36-BE1F-A44E7AF64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57572A-5732-4460-8F80-9BC624C87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C0F3DBE-988A-4169-9693-0B83DA71E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2705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A63F6649-9451-49AD-8182-36E9DC0AD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E6E1FDC-BB98-48B0-9465-E90688FF3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E95C15-F95E-46A7-8419-22794404C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C843EE5-EC50-41B7-B34A-99AA6A139C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19BF423-F929-4F0E-A193-949A0C06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70220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3F8818D-1002-4ACB-BB14-419DD0BD1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84DA523-D0FA-4563-9486-98AB16B820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153B209-2EC1-4A24-A5E1-88F4308B4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B7DDEC-C02B-46CC-992C-0423820107FF}" type="datetimeFigureOut">
              <a:rPr lang="de-DE" smtClean="0"/>
              <a:t>04.02.2026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2CE823B-CCA8-4565-9E06-7FD7A7B273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0C7A88-8F4E-4E0F-BCEF-513A451C4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79853-CF44-43E8-833C-95E83EBE42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9009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D1A00F-EE14-4BAB-960C-49007A73B23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4FF"/>
                </a:solidFill>
              </a:rPr>
              <a:t>Projekt 2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A30EE24-9486-4FDA-8250-5F6F2AC46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TWIE25A</a:t>
            </a:r>
          </a:p>
          <a:p>
            <a:r>
              <a:rPr lang="de-DE" dirty="0">
                <a:solidFill>
                  <a:schemeClr val="bg1"/>
                </a:solidFill>
              </a:rPr>
              <a:t>Dennis S.</a:t>
            </a:r>
            <a:r>
              <a:rPr lang="de-DE" dirty="0"/>
              <a:t> </a:t>
            </a:r>
            <a:r>
              <a:rPr lang="de-DE" dirty="0">
                <a:solidFill>
                  <a:schemeClr val="bg1"/>
                </a:solidFill>
              </a:rPr>
              <a:t>(1757774), Finn H.(8013712),</a:t>
            </a:r>
          </a:p>
          <a:p>
            <a:r>
              <a:rPr lang="de-DE" dirty="0">
                <a:solidFill>
                  <a:schemeClr val="bg1"/>
                </a:solidFill>
              </a:rPr>
              <a:t> Jonas K.(3011068), Quirin U.(2655287)</a:t>
            </a:r>
          </a:p>
        </p:txBody>
      </p:sp>
    </p:spTree>
    <p:extLst>
      <p:ext uri="{BB962C8B-B14F-4D97-AF65-F5344CB8AC3E}">
        <p14:creationId xmlns:p14="http://schemas.microsoft.com/office/powerpoint/2010/main" val="2649918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FB3CA9-8618-4B9B-AE54-B8BEB6C6D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4FF"/>
                </a:solidFill>
              </a:rPr>
              <a:t>Agenda</a:t>
            </a:r>
            <a:r>
              <a:rPr lang="de-DE">
                <a:solidFill>
                  <a:srgbClr val="00B0F0"/>
                </a:solidFill>
              </a:rPr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5C2DD3-8CD7-428E-8269-D2444E4C36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Projektübersicht &amp; Zielsetzung</a:t>
            </a:r>
          </a:p>
          <a:p>
            <a:r>
              <a:rPr lang="de-DE" dirty="0">
                <a:solidFill>
                  <a:schemeClr val="bg1"/>
                </a:solidFill>
              </a:rPr>
              <a:t>Bibliotheken &amp; </a:t>
            </a:r>
            <a:r>
              <a:rPr lang="de-DE" dirty="0" err="1">
                <a:solidFill>
                  <a:schemeClr val="bg1"/>
                </a:solidFill>
              </a:rPr>
              <a:t>Dependencies</a:t>
            </a:r>
            <a:r>
              <a:rPr lang="de-DE" dirty="0">
                <a:solidFill>
                  <a:schemeClr val="bg1"/>
                </a:solidFill>
              </a:rPr>
              <a:t> (Finn)</a:t>
            </a:r>
          </a:p>
          <a:p>
            <a:r>
              <a:rPr lang="de-DE" dirty="0">
                <a:solidFill>
                  <a:schemeClr val="bg1"/>
                </a:solidFill>
              </a:rPr>
              <a:t>Schritt 1: Excel-Datei einlesen (</a:t>
            </a:r>
            <a:r>
              <a:rPr lang="de-DE" dirty="0" err="1">
                <a:solidFill>
                  <a:schemeClr val="bg1"/>
                </a:solidFill>
              </a:rPr>
              <a:t>xfile_read</a:t>
            </a:r>
            <a:r>
              <a:rPr lang="de-DE" dirty="0">
                <a:solidFill>
                  <a:schemeClr val="bg1"/>
                </a:solidFill>
              </a:rPr>
              <a:t>) (</a:t>
            </a:r>
            <a:r>
              <a:rPr lang="de-DE" dirty="0" err="1">
                <a:solidFill>
                  <a:schemeClr val="bg1"/>
                </a:solidFill>
              </a:rPr>
              <a:t>Dennis,Finn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r>
              <a:rPr lang="de-DE" dirty="0">
                <a:solidFill>
                  <a:schemeClr val="bg1"/>
                </a:solidFill>
              </a:rPr>
              <a:t>Schritt 2: Datenaufbereitung &amp; Duplikate entfernen(Dennis)</a:t>
            </a:r>
          </a:p>
          <a:p>
            <a:r>
              <a:rPr lang="de-DE" dirty="0">
                <a:solidFill>
                  <a:schemeClr val="bg1"/>
                </a:solidFill>
              </a:rPr>
              <a:t>Schritt 3: Daten aggregieren &amp; summieren (Quirin)</a:t>
            </a:r>
          </a:p>
          <a:p>
            <a:r>
              <a:rPr lang="de-DE" dirty="0">
                <a:solidFill>
                  <a:schemeClr val="bg1"/>
                </a:solidFill>
              </a:rPr>
              <a:t>Schritt 4: Visualisierung erstellen (</a:t>
            </a:r>
            <a:r>
              <a:rPr lang="de-DE" dirty="0" err="1">
                <a:solidFill>
                  <a:schemeClr val="bg1"/>
                </a:solidFill>
              </a:rPr>
              <a:t>Jonas,Quirin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5690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4FF"/>
                </a:solidFill>
              </a:rPr>
              <a:t>Projektübersicht</a:t>
            </a:r>
            <a:r>
              <a:rPr lang="de-DE">
                <a:solidFill>
                  <a:srgbClr val="3AC4FF"/>
                </a:solidFill>
              </a:rPr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C9A78-DB8B-4B85-9744-FF4C1111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Analyse eines Umsatzberichts aus Excel mit Python</a:t>
            </a:r>
          </a:p>
          <a:p>
            <a:r>
              <a:rPr lang="de-DE">
                <a:solidFill>
                  <a:schemeClr val="bg1"/>
                </a:solidFill>
              </a:rPr>
              <a:t>Datei: 101_Umsatzberichte.xlsx</a:t>
            </a:r>
          </a:p>
          <a:p>
            <a:r>
              <a:rPr lang="de-DE">
                <a:solidFill>
                  <a:schemeClr val="bg1"/>
                </a:solidFill>
              </a:rPr>
              <a:t>Ziel: Quartalsweise Analyse nach Kunde oder Produkt</a:t>
            </a:r>
          </a:p>
          <a:p>
            <a:r>
              <a:rPr lang="de-DE">
                <a:solidFill>
                  <a:schemeClr val="bg1"/>
                </a:solidFill>
              </a:rPr>
              <a:t>Ausgabe: Balkendiagramme mit Durchschnittslinie</a:t>
            </a:r>
          </a:p>
          <a:p>
            <a:r>
              <a:rPr lang="de-DE">
                <a:solidFill>
                  <a:schemeClr val="bg1"/>
                </a:solidFill>
              </a:rPr>
              <a:t>Interaktive Benutzerführung über Konsole</a:t>
            </a:r>
          </a:p>
          <a:p>
            <a:endParaRPr lang="de-DE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474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F05A64-C708-45FE-B950-337B23877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AC4FF"/>
                </a:solidFill>
              </a:rPr>
              <a:t>Dependencies</a:t>
            </a:r>
            <a:r>
              <a:rPr lang="de-DE" b="1" dirty="0">
                <a:solidFill>
                  <a:srgbClr val="3AC4FF"/>
                </a:solidFill>
              </a:rPr>
              <a:t> 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19EE756B-9C96-49E5-9ECE-E49429EB3C20}"/>
              </a:ext>
            </a:extLst>
          </p:cNvPr>
          <p:cNvSpPr txBox="1"/>
          <p:nvPr/>
        </p:nvSpPr>
        <p:spPr>
          <a:xfrm>
            <a:off x="211082" y="1690688"/>
            <a:ext cx="3678044" cy="4893647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600" dirty="0">
                <a:solidFill>
                  <a:srgbClr val="3AC5FF"/>
                </a:solidFill>
              </a:rPr>
              <a:t>Pandas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Daten Import/Export (CSV, Excel, SQL, JSON)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Tabellen erstellen und bearbeiten (</a:t>
            </a:r>
            <a:r>
              <a:rPr lang="de-DE" sz="2400" dirty="0" err="1">
                <a:solidFill>
                  <a:schemeClr val="bg1"/>
                </a:solidFill>
              </a:rPr>
              <a:t>DataFrames</a:t>
            </a:r>
            <a:r>
              <a:rPr lang="de-DE" sz="2400" dirty="0">
                <a:solidFill>
                  <a:schemeClr val="bg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Daten filtern, sortieren und gruppieren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Fehlende Werte bereinigen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Statistische Analysen durchführen</a:t>
            </a:r>
          </a:p>
          <a:p>
            <a:pPr algn="ctr"/>
            <a:endParaRPr lang="de-DE" sz="3600" dirty="0">
              <a:solidFill>
                <a:srgbClr val="3AC5FF"/>
              </a:solidFill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0F768407-5BD8-4DEF-B9CF-57438CABCE30}"/>
              </a:ext>
            </a:extLst>
          </p:cNvPr>
          <p:cNvSpPr txBox="1"/>
          <p:nvPr/>
        </p:nvSpPr>
        <p:spPr>
          <a:xfrm>
            <a:off x="4256978" y="1690688"/>
            <a:ext cx="3678044" cy="4893647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pPr algn="ctr"/>
            <a:r>
              <a:rPr lang="de-DE" sz="3600" dirty="0" err="1">
                <a:solidFill>
                  <a:srgbClr val="3AC5FF"/>
                </a:solidFill>
              </a:rPr>
              <a:t>Matplotlip</a:t>
            </a:r>
            <a:endParaRPr lang="de-DE" sz="3600" dirty="0">
              <a:solidFill>
                <a:srgbClr val="3AC5FF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Datenvisualisierung für Python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Linien-, Balken-, </a:t>
            </a:r>
            <a:r>
              <a:rPr lang="de-DE" sz="2400" dirty="0" err="1">
                <a:solidFill>
                  <a:schemeClr val="bg1"/>
                </a:solidFill>
              </a:rPr>
              <a:t>Scatter</a:t>
            </a:r>
            <a:r>
              <a:rPr lang="de-DE" sz="2400" dirty="0">
                <a:solidFill>
                  <a:schemeClr val="bg1"/>
                </a:solidFill>
              </a:rPr>
              <a:t>-, Histogramm-Diagramme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2D- und 3D-Plots erstellen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Anpassbare Achsen, Legenden, Beschriftungen</a:t>
            </a:r>
            <a:endParaRPr lang="de-DE" sz="3600" dirty="0">
              <a:solidFill>
                <a:srgbClr val="3AC5FF"/>
              </a:solidFill>
            </a:endParaRPr>
          </a:p>
          <a:p>
            <a:pPr algn="ctr"/>
            <a:endParaRPr lang="de-DE" sz="3600" dirty="0">
              <a:solidFill>
                <a:srgbClr val="3AC5FF"/>
              </a:solidFill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AB7F174-1C57-4F42-A380-9744C74A0E0A}"/>
              </a:ext>
            </a:extLst>
          </p:cNvPr>
          <p:cNvSpPr txBox="1"/>
          <p:nvPr/>
        </p:nvSpPr>
        <p:spPr>
          <a:xfrm>
            <a:off x="8302874" y="1690687"/>
            <a:ext cx="3678044" cy="4524315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3600" dirty="0" err="1">
                <a:solidFill>
                  <a:srgbClr val="3AC5FF"/>
                </a:solidFill>
              </a:rPr>
              <a:t>Openpyxl</a:t>
            </a:r>
            <a:br>
              <a:rPr lang="de-DE" sz="3600" dirty="0">
                <a:solidFill>
                  <a:srgbClr val="3AC5FF"/>
                </a:solidFill>
              </a:rPr>
            </a:br>
            <a:r>
              <a:rPr lang="de-DE" sz="2000" dirty="0">
                <a:solidFill>
                  <a:srgbClr val="3AC4FF"/>
                </a:solidFill>
              </a:rPr>
              <a:t>Zweck: </a:t>
            </a:r>
            <a:r>
              <a:rPr lang="de-DE" sz="2000" dirty="0">
                <a:solidFill>
                  <a:schemeClr val="bg1"/>
                </a:solidFill>
              </a:rPr>
              <a:t>Engine zum lesen von .xlsx-Dateien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3AC4FF"/>
                </a:solidFill>
              </a:rPr>
              <a:t>Nutzung: Passiv: </a:t>
            </a:r>
            <a:r>
              <a:rPr lang="de-DE" sz="2000" dirty="0">
                <a:solidFill>
                  <a:schemeClr val="bg1"/>
                </a:solidFill>
              </a:rPr>
              <a:t>(wird von </a:t>
            </a:r>
            <a:r>
              <a:rPr lang="de-DE" sz="2000" dirty="0" err="1">
                <a:solidFill>
                  <a:schemeClr val="bg1"/>
                </a:solidFill>
              </a:rPr>
              <a:t>panda</a:t>
            </a:r>
            <a:r>
              <a:rPr lang="de-DE" sz="2000" dirty="0">
                <a:solidFill>
                  <a:schemeClr val="bg1"/>
                </a:solidFill>
              </a:rPr>
              <a:t> aufgerufen)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rgbClr val="3AC4FF"/>
                </a:solidFill>
              </a:rPr>
              <a:t>Notwendigkeit: </a:t>
            </a:r>
            <a:r>
              <a:rPr lang="de-DE" sz="2000" dirty="0">
                <a:solidFill>
                  <a:schemeClr val="bg1"/>
                </a:solidFill>
              </a:rPr>
              <a:t>Zwingend erforderlich für moderne Excel Dateien</a:t>
            </a:r>
          </a:p>
          <a:p>
            <a:pPr algn="ctr"/>
            <a:endParaRPr lang="de-DE" sz="3600" dirty="0">
              <a:solidFill>
                <a:srgbClr val="3AC5FF"/>
              </a:solidFill>
            </a:endParaRPr>
          </a:p>
          <a:p>
            <a:pPr algn="ctr"/>
            <a:endParaRPr lang="de-DE" sz="3600" dirty="0">
              <a:solidFill>
                <a:srgbClr val="3AC5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2372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4FF"/>
                </a:solidFill>
              </a:rPr>
              <a:t>Schritt 1: Excel-Datei einlesen</a:t>
            </a:r>
            <a:endParaRPr lang="de-DE">
              <a:solidFill>
                <a:srgbClr val="3AC4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C9A78-DB8B-4B85-9744-FF4C1111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Funktion: 	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Excel-Datei laden mit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                                                           Liest Datei ein und speichert Data Frame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                                                        Datei bereits geladen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Ausgabe Quelldaten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                                                                      speichert Spaltenbeschriftung in eine Liste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                                                           	    wird in der </a:t>
            </a:r>
            <a:r>
              <a:rPr lang="de-DE" dirty="0" err="1">
                <a:solidFill>
                  <a:schemeClr val="bg1"/>
                </a:solidFill>
              </a:rPr>
              <a:t>Exception</a:t>
            </a:r>
            <a:r>
              <a:rPr lang="de-DE" dirty="0">
                <a:solidFill>
                  <a:schemeClr val="bg1"/>
                </a:solidFill>
              </a:rPr>
              <a:t> benötigt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7E5F15D-DA46-4B5B-B578-D41722CD69E8}"/>
              </a:ext>
            </a:extLst>
          </p:cNvPr>
          <p:cNvSpPr txBox="1"/>
          <p:nvPr/>
        </p:nvSpPr>
        <p:spPr>
          <a:xfrm>
            <a:off x="2598234" y="1905736"/>
            <a:ext cx="2174488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xfile_read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968323-55DA-46E7-AE2B-C84CC9427318}"/>
              </a:ext>
            </a:extLst>
          </p:cNvPr>
          <p:cNvSpPr txBox="1"/>
          <p:nvPr/>
        </p:nvSpPr>
        <p:spPr>
          <a:xfrm>
            <a:off x="4378711" y="2321945"/>
            <a:ext cx="3828587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pd.ExcelFile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in_file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3037EF9-F890-4D4B-A7B9-B3B71A67DAD9}"/>
              </a:ext>
            </a:extLst>
          </p:cNvPr>
          <p:cNvSpPr txBox="1"/>
          <p:nvPr/>
        </p:nvSpPr>
        <p:spPr>
          <a:xfrm>
            <a:off x="1629933" y="2702519"/>
            <a:ext cx="3912223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pd.read_excel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in_file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2689D94-8F8C-4A1D-A61F-35C44F3DA08C}"/>
              </a:ext>
            </a:extLst>
          </p:cNvPr>
          <p:cNvSpPr txBox="1"/>
          <p:nvPr/>
        </p:nvSpPr>
        <p:spPr>
          <a:xfrm>
            <a:off x="1629934" y="3088217"/>
            <a:ext cx="380071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xl.parse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tabble_name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F2D7A47-F3A9-4C2C-9773-CC9A98C93360}"/>
              </a:ext>
            </a:extLst>
          </p:cNvPr>
          <p:cNvSpPr txBox="1"/>
          <p:nvPr/>
        </p:nvSpPr>
        <p:spPr>
          <a:xfrm>
            <a:off x="11004395" y="3088217"/>
            <a:ext cx="69881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xl.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87994B16-5DCE-4845-B321-FD327E90E8CB}"/>
              </a:ext>
            </a:extLst>
          </p:cNvPr>
          <p:cNvSpPr txBox="1"/>
          <p:nvPr/>
        </p:nvSpPr>
        <p:spPr>
          <a:xfrm>
            <a:off x="1629933" y="3487761"/>
            <a:ext cx="460360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header_row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df.columns.tolist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A6D4F7A9-5568-44AA-A3BC-9AC5C1F49AB3}"/>
              </a:ext>
            </a:extLst>
          </p:cNvPr>
          <p:cNvSpPr txBox="1"/>
          <p:nvPr/>
        </p:nvSpPr>
        <p:spPr>
          <a:xfrm>
            <a:off x="1629933" y="4167563"/>
            <a:ext cx="5016194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number_of_headers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header_row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6499506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DFB78-7165-48D5-AD22-BBCF170D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5FF"/>
                </a:solidFill>
              </a:rPr>
              <a:t>Schritt 1: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09B0-3B7C-4821-9F89-E178F4ED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8AC9513-28C4-4438-A9F1-9A1706C72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1961092"/>
            <a:ext cx="7868748" cy="3115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9678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4FF"/>
                </a:solidFill>
              </a:rPr>
              <a:t>Schritt 2: Datenaufbereitung</a:t>
            </a:r>
            <a:endParaRPr lang="de-DE">
              <a:solidFill>
                <a:srgbClr val="3AC4FF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D9C9A78-DB8B-4B85-9744-FF4C1111F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de-DE">
                <a:solidFill>
                  <a:schemeClr val="bg1"/>
                </a:solidFill>
              </a:rPr>
              <a:t>Funktion: 	</a:t>
            </a:r>
          </a:p>
          <a:p>
            <a:pPr lvl="1"/>
            <a:r>
              <a:rPr lang="de-DE">
                <a:solidFill>
                  <a:schemeClr val="bg1"/>
                </a:solidFill>
              </a:rPr>
              <a:t>Liste mit allen Rohdaten</a:t>
            </a:r>
            <a:endParaRPr lang="de-DE">
              <a:solidFill>
                <a:schemeClr val="bg1"/>
              </a:solidFill>
              <a:ea typeface="Calibri"/>
              <a:cs typeface="Calibri"/>
            </a:endParaRPr>
          </a:p>
          <a:p>
            <a:pPr lvl="1"/>
            <a:r>
              <a:rPr lang="de-DE">
                <a:solidFill>
                  <a:schemeClr val="bg1"/>
                </a:solidFill>
              </a:rPr>
              <a:t>                                                                                           Liste ohne </a:t>
            </a:r>
            <a:r>
              <a:rPr lang="de-DE" err="1">
                <a:solidFill>
                  <a:schemeClr val="bg1"/>
                </a:solidFill>
              </a:rPr>
              <a:t>duplikate</a:t>
            </a:r>
            <a:endParaRPr lang="de-DE">
              <a:solidFill>
                <a:schemeClr val="bg1"/>
              </a:solidFill>
            </a:endParaRPr>
          </a:p>
          <a:p>
            <a:pPr marL="457200" lvl="1" indent="0">
              <a:buNone/>
            </a:pPr>
            <a:r>
              <a:rPr lang="de-DE">
                <a:solidFill>
                  <a:schemeClr val="bg1"/>
                </a:solidFill>
              </a:rPr>
              <a:t> und sortiert</a:t>
            </a:r>
            <a:endParaRPr lang="de-DE">
              <a:solidFill>
                <a:schemeClr val="bg1"/>
              </a:solidFill>
              <a:ea typeface="Calibri"/>
              <a:cs typeface="Calibri"/>
            </a:endParaRPr>
          </a:p>
          <a:p>
            <a:pPr marL="2286000" lvl="5" indent="0">
              <a:buNone/>
            </a:pPr>
            <a:r>
              <a:rPr lang="de-DE">
                <a:solidFill>
                  <a:schemeClr val="bg1"/>
                </a:solidFill>
              </a:rPr>
              <a:t>                                                           </a:t>
            </a:r>
            <a:endParaRPr lang="de-DE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87E5F15D-DA46-4B5B-B578-D41722CD69E8}"/>
              </a:ext>
            </a:extLst>
          </p:cNvPr>
          <p:cNvSpPr txBox="1"/>
          <p:nvPr/>
        </p:nvSpPr>
        <p:spPr>
          <a:xfrm>
            <a:off x="2419815" y="1904264"/>
            <a:ext cx="283241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plot_client_data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B968323-55DA-46E7-AE2B-C84CC9427318}"/>
              </a:ext>
            </a:extLst>
          </p:cNvPr>
          <p:cNvSpPr txBox="1"/>
          <p:nvPr/>
        </p:nvSpPr>
        <p:spPr>
          <a:xfrm>
            <a:off x="4670332" y="2287361"/>
            <a:ext cx="5722606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sv-S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sv-S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x_axis_raw</a:t>
            </a:r>
            <a:r>
              <a:rPr lang="sv-S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sv-S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sv-S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sv-S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kunde_produkt</a:t>
            </a:r>
            <a:r>
              <a:rPr lang="sv-S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sv-S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tolist</a:t>
            </a:r>
            <a:r>
              <a:rPr lang="sv-S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3037EF9-F890-4D4B-A7B9-B3B71A67DAD9}"/>
              </a:ext>
            </a:extLst>
          </p:cNvPr>
          <p:cNvSpPr txBox="1"/>
          <p:nvPr/>
        </p:nvSpPr>
        <p:spPr>
          <a:xfrm>
            <a:off x="1574176" y="2670458"/>
            <a:ext cx="6209376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x_axis_clean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sorted(list(set(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x_axis_raw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94D42AD2-F610-4757-B588-8F70F5E9C082}"/>
              </a:ext>
            </a:extLst>
          </p:cNvPr>
          <p:cNvSpPr txBox="1"/>
          <p:nvPr/>
        </p:nvSpPr>
        <p:spPr>
          <a:xfrm>
            <a:off x="1183359" y="3630959"/>
            <a:ext cx="8417318" cy="461665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 sz="24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x_axis_clean</a:t>
            </a: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sorted(list(set(</a:t>
            </a:r>
            <a:r>
              <a:rPr lang="en-US" sz="240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x_axis_raw</a:t>
            </a:r>
            <a:r>
              <a:rPr lang="en-US" sz="240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)))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87DD1202-A57A-485F-A883-53EB2145E235}"/>
              </a:ext>
            </a:extLst>
          </p:cNvPr>
          <p:cNvGrpSpPr/>
          <p:nvPr/>
        </p:nvGrpSpPr>
        <p:grpSpPr>
          <a:xfrm>
            <a:off x="1181381" y="4089865"/>
            <a:ext cx="2737626" cy="1639248"/>
            <a:chOff x="384716" y="1169766"/>
            <a:chExt cx="2737626" cy="1639248"/>
          </a:xfrm>
        </p:grpSpPr>
        <p:sp>
          <p:nvSpPr>
            <p:cNvPr id="12" name="Pfeil: nach oben 11">
              <a:extLst>
                <a:ext uri="{FF2B5EF4-FFF2-40B4-BE49-F238E27FC236}">
                  <a16:creationId xmlns:a16="http://schemas.microsoft.com/office/drawing/2014/main" id="{3F278B77-825A-41B5-975B-21104F46B7D1}"/>
                </a:ext>
              </a:extLst>
            </p:cNvPr>
            <p:cNvSpPr/>
            <p:nvPr/>
          </p:nvSpPr>
          <p:spPr>
            <a:xfrm>
              <a:off x="1170878" y="1169766"/>
              <a:ext cx="330514" cy="1182743"/>
            </a:xfrm>
            <a:prstGeom prst="upArrow">
              <a:avLst/>
            </a:prstGeom>
            <a:solidFill>
              <a:srgbClr val="3AC5FF"/>
            </a:solidFill>
            <a:ln>
              <a:solidFill>
                <a:srgbClr val="3AC5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EE85095C-895E-47E4-B413-4E6D06DFFF5E}"/>
                </a:ext>
              </a:extLst>
            </p:cNvPr>
            <p:cNvSpPr txBox="1"/>
            <p:nvPr/>
          </p:nvSpPr>
          <p:spPr>
            <a:xfrm>
              <a:off x="384716" y="2439682"/>
              <a:ext cx="273762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>
                  <a:solidFill>
                    <a:schemeClr val="bg1"/>
                  </a:solidFill>
                </a:rPr>
                <a:t>Neue „saubere“ Liste</a:t>
              </a:r>
            </a:p>
          </p:txBody>
        </p:sp>
      </p:grpSp>
      <p:pic>
        <p:nvPicPr>
          <p:cNvPr id="14" name="Picture 3">
            <a:extLst>
              <a:ext uri="{FF2B5EF4-FFF2-40B4-BE49-F238E27FC236}">
                <a16:creationId xmlns:a16="http://schemas.microsoft.com/office/drawing/2014/main" id="{DC791C39-52B7-4A98-89E7-C6615A374E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096" y="4085775"/>
            <a:ext cx="308417" cy="957773"/>
          </a:xfrm>
          <a:prstGeom prst="rect">
            <a:avLst/>
          </a:prstGeom>
        </p:spPr>
      </p:pic>
      <p:sp>
        <p:nvSpPr>
          <p:cNvPr id="15" name="Pfeil: nach oben 5">
            <a:extLst>
              <a:ext uri="{FF2B5EF4-FFF2-40B4-BE49-F238E27FC236}">
                <a16:creationId xmlns:a16="http://schemas.microsoft.com/office/drawing/2014/main" id="{67EC8415-1A02-4D93-8F6C-08CF16243A76}"/>
              </a:ext>
            </a:extLst>
          </p:cNvPr>
          <p:cNvSpPr/>
          <p:nvPr/>
        </p:nvSpPr>
        <p:spPr>
          <a:xfrm>
            <a:off x="7742267" y="4085973"/>
            <a:ext cx="301880" cy="998237"/>
          </a:xfrm>
          <a:prstGeom prst="upArrow">
            <a:avLst/>
          </a:prstGeom>
          <a:solidFill>
            <a:srgbClr val="3AC5FF"/>
          </a:solidFill>
          <a:ln>
            <a:solidFill>
              <a:srgbClr val="3AC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feil: nach oben 5">
            <a:extLst>
              <a:ext uri="{FF2B5EF4-FFF2-40B4-BE49-F238E27FC236}">
                <a16:creationId xmlns:a16="http://schemas.microsoft.com/office/drawing/2014/main" id="{34D002A6-DCE9-4EA2-9498-DACACECE469D}"/>
              </a:ext>
            </a:extLst>
          </p:cNvPr>
          <p:cNvSpPr/>
          <p:nvPr/>
        </p:nvSpPr>
        <p:spPr>
          <a:xfrm>
            <a:off x="6312211" y="4085831"/>
            <a:ext cx="299622" cy="1893538"/>
          </a:xfrm>
          <a:prstGeom prst="upArrow">
            <a:avLst/>
          </a:prstGeom>
          <a:solidFill>
            <a:srgbClr val="3AC5FF"/>
          </a:solidFill>
          <a:ln>
            <a:solidFill>
              <a:srgbClr val="3AC5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Textfeld 9">
            <a:extLst>
              <a:ext uri="{FF2B5EF4-FFF2-40B4-BE49-F238E27FC236}">
                <a16:creationId xmlns:a16="http://schemas.microsoft.com/office/drawing/2014/main" id="{D2F27198-265C-4D29-8B7C-738EF33E1667}"/>
              </a:ext>
            </a:extLst>
          </p:cNvPr>
          <p:cNvSpPr txBox="1"/>
          <p:nvPr/>
        </p:nvSpPr>
        <p:spPr>
          <a:xfrm>
            <a:off x="5248165" y="5981907"/>
            <a:ext cx="273762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Definiert Werte als Menge</a:t>
            </a:r>
          </a:p>
          <a:p>
            <a:r>
              <a:rPr lang="de-DE">
                <a:solidFill>
                  <a:schemeClr val="bg1"/>
                </a:solidFill>
              </a:rPr>
              <a:t> --&gt; Keine Duplikate </a:t>
            </a:r>
            <a:br>
              <a:rPr lang="de-DE">
                <a:solidFill>
                  <a:schemeClr val="bg1"/>
                </a:solidFill>
              </a:rPr>
            </a:br>
            <a:endParaRPr lang="de-DE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8" name="Textfeld 9">
            <a:extLst>
              <a:ext uri="{FF2B5EF4-FFF2-40B4-BE49-F238E27FC236}">
                <a16:creationId xmlns:a16="http://schemas.microsoft.com/office/drawing/2014/main" id="{1B4B8FC9-3EA1-4CA4-82AC-BB37EA322124}"/>
              </a:ext>
            </a:extLst>
          </p:cNvPr>
          <p:cNvSpPr txBox="1"/>
          <p:nvPr/>
        </p:nvSpPr>
        <p:spPr>
          <a:xfrm>
            <a:off x="6615589" y="5084209"/>
            <a:ext cx="3123845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  Originale unsortierte Liste </a:t>
            </a:r>
            <a:br>
              <a:rPr lang="de-DE">
                <a:solidFill>
                  <a:schemeClr val="bg1"/>
                </a:solidFill>
              </a:rPr>
            </a:br>
            <a:endParaRPr lang="de-DE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642224-4A6B-4250-9F25-3665B2ECA771}"/>
              </a:ext>
            </a:extLst>
          </p:cNvPr>
          <p:cNvSpPr txBox="1"/>
          <p:nvPr/>
        </p:nvSpPr>
        <p:spPr>
          <a:xfrm>
            <a:off x="3227081" y="5043548"/>
            <a:ext cx="2737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Sortiert Alphabetisch</a:t>
            </a:r>
          </a:p>
        </p:txBody>
      </p:sp>
    </p:spTree>
    <p:extLst>
      <p:ext uri="{BB962C8B-B14F-4D97-AF65-F5344CB8AC3E}">
        <p14:creationId xmlns:p14="http://schemas.microsoft.com/office/powerpoint/2010/main" val="3531515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DFB78-7165-48D5-AD22-BBCF170D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5FF"/>
                </a:solidFill>
              </a:rPr>
              <a:t>Schritt 2: Code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09B0-3B7C-4821-9F89-E178F4ED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E3EDEC66-FD36-4514-88F7-AD628620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0627" y="2119940"/>
            <a:ext cx="8535591" cy="30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98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7DFB78-7165-48D5-AD22-BBCF170D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5FF"/>
                </a:solidFill>
              </a:rPr>
              <a:t>Schritt 3: Daten aggregieren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7F09B0-3B7C-4821-9F89-E178F4ED01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</a:rPr>
              <a:t>y-Achse erstellen			 </a:t>
            </a:r>
          </a:p>
          <a:p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-Schleife ordnet jedem x-Wert  y-Wert= 0 zu</a:t>
            </a:r>
          </a:p>
          <a:p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-Schleife summiert nun Umsatzzahlen für Kunde/Produkt</a:t>
            </a:r>
          </a:p>
          <a:p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3F1EAC3-07E5-40C0-B0C8-78228844FCA0}"/>
              </a:ext>
            </a:extLst>
          </p:cNvPr>
          <p:cNvSpPr txBox="1"/>
          <p:nvPr/>
        </p:nvSpPr>
        <p:spPr>
          <a:xfrm>
            <a:off x="3755571" y="1908402"/>
            <a:ext cx="1741715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y_axis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{}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EB15EF19-5E1D-40FD-A077-D625661312C9}"/>
              </a:ext>
            </a:extLst>
          </p:cNvPr>
          <p:cNvSpPr txBox="1"/>
          <p:nvPr/>
        </p:nvSpPr>
        <p:spPr>
          <a:xfrm>
            <a:off x="8131628" y="2398260"/>
            <a:ext cx="3624943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y_axis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x_axis_value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 0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0C8A0FCD-9251-4A4E-8C69-751A555EC60E}"/>
              </a:ext>
            </a:extLst>
          </p:cNvPr>
          <p:cNvSpPr/>
          <p:nvPr/>
        </p:nvSpPr>
        <p:spPr>
          <a:xfrm>
            <a:off x="827313" y="3265725"/>
            <a:ext cx="11179629" cy="369332"/>
          </a:xfrm>
          <a:prstGeom prst="rect">
            <a:avLst/>
          </a:prstGeom>
          <a:solidFill>
            <a:srgbClr val="1E293B"/>
          </a:solidFill>
        </p:spPr>
        <p:txBody>
          <a:bodyPr wrap="square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y_axis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x_axis_value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+=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df.loc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df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kunde_produkt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==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x_axis_value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quartal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sum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endParaRPr lang="de-DE" b="0">
              <a:solidFill>
                <a:schemeClr val="bg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0997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C8A0FCD-9251-4A4E-8C69-751A555EC60E}"/>
              </a:ext>
            </a:extLst>
          </p:cNvPr>
          <p:cNvSpPr/>
          <p:nvPr/>
        </p:nvSpPr>
        <p:spPr>
          <a:xfrm>
            <a:off x="609600" y="2852065"/>
            <a:ext cx="11582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y_axis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x_axis_value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de-DE" sz="2000">
                <a:solidFill>
                  <a:srgbClr val="D4D4D4"/>
                </a:solidFill>
                <a:latin typeface="Consolas" panose="020B0609020204030204" pitchFamily="49" charset="0"/>
              </a:rPr>
              <a:t>+=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de-DE" sz="2000" err="1">
                <a:solidFill>
                  <a:srgbClr val="CCCCCC"/>
                </a:solidFill>
                <a:latin typeface="Consolas" panose="020B0609020204030204" pitchFamily="49" charset="0"/>
              </a:rPr>
              <a:t>.loc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df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[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kunde_produkt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] </a:t>
            </a:r>
            <a:r>
              <a:rPr lang="de-DE" sz="2000">
                <a:solidFill>
                  <a:srgbClr val="D4D4D4"/>
                </a:solidFill>
                <a:latin typeface="Consolas" panose="020B0609020204030204" pitchFamily="49" charset="0"/>
              </a:rPr>
              <a:t>==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 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x_axis_value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, </a:t>
            </a:r>
            <a:r>
              <a:rPr lang="de-DE" sz="2000" err="1">
                <a:solidFill>
                  <a:srgbClr val="9CDCFE"/>
                </a:solidFill>
                <a:latin typeface="Consolas" panose="020B0609020204030204" pitchFamily="49" charset="0"/>
              </a:rPr>
              <a:t>quartal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].</a:t>
            </a:r>
            <a:r>
              <a:rPr lang="de-DE" sz="2000" err="1">
                <a:solidFill>
                  <a:srgbClr val="DCDCAA"/>
                </a:solidFill>
                <a:latin typeface="Consolas" panose="020B0609020204030204" pitchFamily="49" charset="0"/>
              </a:rPr>
              <a:t>sum</a:t>
            </a:r>
            <a:r>
              <a:rPr lang="de-DE" sz="2000">
                <a:solidFill>
                  <a:srgbClr val="CCCCCC"/>
                </a:solidFill>
                <a:latin typeface="Consolas" panose="020B0609020204030204" pitchFamily="49" charset="0"/>
              </a:rPr>
              <a:t>()</a:t>
            </a:r>
            <a:endParaRPr lang="de-DE" sz="2000" b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964493CF-5EF5-46B4-82F1-92AA56E7BA69}"/>
              </a:ext>
            </a:extLst>
          </p:cNvPr>
          <p:cNvGrpSpPr/>
          <p:nvPr/>
        </p:nvGrpSpPr>
        <p:grpSpPr>
          <a:xfrm>
            <a:off x="609600" y="924971"/>
            <a:ext cx="2618014" cy="1861776"/>
            <a:chOff x="609600" y="924971"/>
            <a:chExt cx="2618014" cy="1861776"/>
          </a:xfrm>
        </p:grpSpPr>
        <p:sp>
          <p:nvSpPr>
            <p:cNvPr id="12" name="Pfeil: nach unten 11">
              <a:extLst>
                <a:ext uri="{FF2B5EF4-FFF2-40B4-BE49-F238E27FC236}">
                  <a16:creationId xmlns:a16="http://schemas.microsoft.com/office/drawing/2014/main" id="{716DE56E-5C4C-4DE5-9832-7F39C4D76D4E}"/>
                </a:ext>
              </a:extLst>
            </p:cNvPr>
            <p:cNvSpPr/>
            <p:nvPr/>
          </p:nvSpPr>
          <p:spPr>
            <a:xfrm>
              <a:off x="1491343" y="1698175"/>
              <a:ext cx="283029" cy="1088572"/>
            </a:xfrm>
            <a:prstGeom prst="down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C86DA801-127A-4788-A345-FEEA9E830BFC}"/>
                </a:ext>
              </a:extLst>
            </p:cNvPr>
            <p:cNvSpPr txBox="1"/>
            <p:nvPr/>
          </p:nvSpPr>
          <p:spPr>
            <a:xfrm>
              <a:off x="609600" y="924971"/>
              <a:ext cx="261801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Dictionary-Eintrag für aktuellen Kunden</a:t>
              </a:r>
            </a:p>
          </p:txBody>
        </p:sp>
      </p:grpSp>
      <p:grpSp>
        <p:nvGrpSpPr>
          <p:cNvPr id="26" name="Gruppieren 25">
            <a:extLst>
              <a:ext uri="{FF2B5EF4-FFF2-40B4-BE49-F238E27FC236}">
                <a16:creationId xmlns:a16="http://schemas.microsoft.com/office/drawing/2014/main" id="{87B33228-6E2C-4859-A88B-D1F965524BE5}"/>
              </a:ext>
            </a:extLst>
          </p:cNvPr>
          <p:cNvGrpSpPr/>
          <p:nvPr/>
        </p:nvGrpSpPr>
        <p:grpSpPr>
          <a:xfrm>
            <a:off x="2110005" y="3381620"/>
            <a:ext cx="3508846" cy="1159442"/>
            <a:chOff x="2110005" y="3381620"/>
            <a:chExt cx="3508846" cy="1159442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BE17BBC8-A9D8-479E-845F-F5F439EEE103}"/>
                </a:ext>
              </a:extLst>
            </p:cNvPr>
            <p:cNvSpPr/>
            <p:nvPr/>
          </p:nvSpPr>
          <p:spPr>
            <a:xfrm>
              <a:off x="2110005" y="4140952"/>
              <a:ext cx="350884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Addiere zum bestehenden Wert</a:t>
              </a:r>
            </a:p>
          </p:txBody>
        </p:sp>
        <p:sp>
          <p:nvSpPr>
            <p:cNvPr id="15" name="Pfeil: nach oben 14">
              <a:extLst>
                <a:ext uri="{FF2B5EF4-FFF2-40B4-BE49-F238E27FC236}">
                  <a16:creationId xmlns:a16="http://schemas.microsoft.com/office/drawing/2014/main" id="{A44AA56E-6322-46FF-B3F5-B17C4D02CDAB}"/>
                </a:ext>
              </a:extLst>
            </p:cNvPr>
            <p:cNvSpPr/>
            <p:nvPr/>
          </p:nvSpPr>
          <p:spPr>
            <a:xfrm>
              <a:off x="3603171" y="3381620"/>
              <a:ext cx="261257" cy="741405"/>
            </a:xfrm>
            <a:prstGeom prst="up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8" name="Gruppieren 27">
            <a:extLst>
              <a:ext uri="{FF2B5EF4-FFF2-40B4-BE49-F238E27FC236}">
                <a16:creationId xmlns:a16="http://schemas.microsoft.com/office/drawing/2014/main" id="{057427C1-A6E0-4068-9990-823D20BA9E2E}"/>
              </a:ext>
            </a:extLst>
          </p:cNvPr>
          <p:cNvGrpSpPr/>
          <p:nvPr/>
        </p:nvGrpSpPr>
        <p:grpSpPr>
          <a:xfrm>
            <a:off x="3522967" y="1498120"/>
            <a:ext cx="2674707" cy="1292480"/>
            <a:chOff x="3522967" y="1498120"/>
            <a:chExt cx="2674707" cy="1292480"/>
          </a:xfrm>
        </p:grpSpPr>
        <p:sp>
          <p:nvSpPr>
            <p:cNvPr id="16" name="Pfeil: nach unten 15">
              <a:extLst>
                <a:ext uri="{FF2B5EF4-FFF2-40B4-BE49-F238E27FC236}">
                  <a16:creationId xmlns:a16="http://schemas.microsoft.com/office/drawing/2014/main" id="{BE94E090-A39D-4DD9-A2AA-8423885B0D66}"/>
                </a:ext>
              </a:extLst>
            </p:cNvPr>
            <p:cNvSpPr/>
            <p:nvPr/>
          </p:nvSpPr>
          <p:spPr>
            <a:xfrm>
              <a:off x="4452256" y="1972980"/>
              <a:ext cx="283029" cy="817620"/>
            </a:xfrm>
            <a:prstGeom prst="down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68E24C79-A74B-4132-A99F-D93F9C4B753B}"/>
                </a:ext>
              </a:extLst>
            </p:cNvPr>
            <p:cNvSpPr/>
            <p:nvPr/>
          </p:nvSpPr>
          <p:spPr>
            <a:xfrm>
              <a:off x="3522967" y="1498120"/>
              <a:ext cx="2674707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Greift auf </a:t>
              </a:r>
              <a:r>
                <a:rPr lang="de-DE" sz="2000" err="1">
                  <a:solidFill>
                    <a:schemeClr val="bg1"/>
                  </a:solidFill>
                </a:rPr>
                <a:t>DataFrame</a:t>
              </a:r>
              <a:r>
                <a:rPr lang="de-DE" sz="2000">
                  <a:solidFill>
                    <a:schemeClr val="bg1"/>
                  </a:solidFill>
                </a:rPr>
                <a:t> zu</a:t>
              </a:r>
            </a:p>
          </p:txBody>
        </p: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5FCB5F32-CBBF-4323-8C5A-301B41C29D49}"/>
              </a:ext>
            </a:extLst>
          </p:cNvPr>
          <p:cNvGrpSpPr/>
          <p:nvPr/>
        </p:nvGrpSpPr>
        <p:grpSpPr>
          <a:xfrm>
            <a:off x="5875203" y="3362503"/>
            <a:ext cx="3903248" cy="1877112"/>
            <a:chOff x="5875203" y="3362503"/>
            <a:chExt cx="3903248" cy="1877112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9096E90F-6940-479E-B861-B8E04E7EE368}"/>
                </a:ext>
              </a:extLst>
            </p:cNvPr>
            <p:cNvSpPr/>
            <p:nvPr/>
          </p:nvSpPr>
          <p:spPr>
            <a:xfrm>
              <a:off x="5875203" y="4839505"/>
              <a:ext cx="3903248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Zeilen-Filter: Nur passende Einträge</a:t>
              </a:r>
            </a:p>
          </p:txBody>
        </p:sp>
        <p:sp>
          <p:nvSpPr>
            <p:cNvPr id="19" name="Pfeil: nach oben 18">
              <a:extLst>
                <a:ext uri="{FF2B5EF4-FFF2-40B4-BE49-F238E27FC236}">
                  <a16:creationId xmlns:a16="http://schemas.microsoft.com/office/drawing/2014/main" id="{C3DEFEF8-5A9C-473F-B0CE-676555B9A645}"/>
                </a:ext>
              </a:extLst>
            </p:cNvPr>
            <p:cNvSpPr/>
            <p:nvPr/>
          </p:nvSpPr>
          <p:spPr>
            <a:xfrm>
              <a:off x="7483928" y="3362503"/>
              <a:ext cx="359230" cy="1342781"/>
            </a:xfrm>
            <a:prstGeom prst="up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162F039A-CF97-4854-8C6C-6D87A869F3F6}"/>
              </a:ext>
            </a:extLst>
          </p:cNvPr>
          <p:cNvGrpSpPr/>
          <p:nvPr/>
        </p:nvGrpSpPr>
        <p:grpSpPr>
          <a:xfrm>
            <a:off x="8240283" y="1624179"/>
            <a:ext cx="3527376" cy="1221115"/>
            <a:chOff x="8240283" y="1624179"/>
            <a:chExt cx="3527376" cy="1221115"/>
          </a:xfrm>
        </p:grpSpPr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BE0D04C2-B096-40F2-A0A3-A6F733E510F2}"/>
                </a:ext>
              </a:extLst>
            </p:cNvPr>
            <p:cNvSpPr/>
            <p:nvPr/>
          </p:nvSpPr>
          <p:spPr>
            <a:xfrm>
              <a:off x="8240283" y="1624179"/>
              <a:ext cx="3527376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Gewünschte Spalte (z.B. '</a:t>
              </a:r>
              <a:r>
                <a:rPr lang="de-DE" sz="2000" err="1">
                  <a:solidFill>
                    <a:schemeClr val="bg1"/>
                  </a:solidFill>
                </a:rPr>
                <a:t>Qrtl</a:t>
              </a:r>
              <a:r>
                <a:rPr lang="de-DE" sz="2000">
                  <a:solidFill>
                    <a:schemeClr val="bg1"/>
                  </a:solidFill>
                </a:rPr>
                <a:t> 1')</a:t>
              </a:r>
            </a:p>
          </p:txBody>
        </p:sp>
        <p:sp>
          <p:nvSpPr>
            <p:cNvPr id="21" name="Pfeil: nach unten 20">
              <a:extLst>
                <a:ext uri="{FF2B5EF4-FFF2-40B4-BE49-F238E27FC236}">
                  <a16:creationId xmlns:a16="http://schemas.microsoft.com/office/drawing/2014/main" id="{3E34B98F-88F2-453A-901F-01CA5C70B8AB}"/>
                </a:ext>
              </a:extLst>
            </p:cNvPr>
            <p:cNvSpPr/>
            <p:nvPr/>
          </p:nvSpPr>
          <p:spPr>
            <a:xfrm>
              <a:off x="10003971" y="2027674"/>
              <a:ext cx="283029" cy="817620"/>
            </a:xfrm>
            <a:prstGeom prst="down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0DB510B-3802-467A-B287-BD5325421813}"/>
              </a:ext>
            </a:extLst>
          </p:cNvPr>
          <p:cNvGrpSpPr/>
          <p:nvPr/>
        </p:nvGrpSpPr>
        <p:grpSpPr>
          <a:xfrm>
            <a:off x="8660007" y="3364236"/>
            <a:ext cx="3531993" cy="1190713"/>
            <a:chOff x="8660007" y="3364236"/>
            <a:chExt cx="3531993" cy="1190713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CAECDBE5-BCA5-48EC-9FFC-B90AAEA5C033}"/>
                </a:ext>
              </a:extLst>
            </p:cNvPr>
            <p:cNvSpPr/>
            <p:nvPr/>
          </p:nvSpPr>
          <p:spPr>
            <a:xfrm>
              <a:off x="8660007" y="4154839"/>
              <a:ext cx="3531993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de-DE" sz="2000">
                  <a:solidFill>
                    <a:schemeClr val="bg1"/>
                  </a:solidFill>
                </a:rPr>
                <a:t>Summiere alle gefilterten Werte</a:t>
              </a:r>
            </a:p>
          </p:txBody>
        </p:sp>
        <p:sp>
          <p:nvSpPr>
            <p:cNvPr id="23" name="Pfeil: nach oben 22">
              <a:extLst>
                <a:ext uri="{FF2B5EF4-FFF2-40B4-BE49-F238E27FC236}">
                  <a16:creationId xmlns:a16="http://schemas.microsoft.com/office/drawing/2014/main" id="{807D837B-C250-4B3C-B816-7E16DCA59ACD}"/>
                </a:ext>
              </a:extLst>
            </p:cNvPr>
            <p:cNvSpPr/>
            <p:nvPr/>
          </p:nvSpPr>
          <p:spPr>
            <a:xfrm>
              <a:off x="11321143" y="3364236"/>
              <a:ext cx="261258" cy="698331"/>
            </a:xfrm>
            <a:prstGeom prst="upArrow">
              <a:avLst/>
            </a:prstGeom>
            <a:solidFill>
              <a:srgbClr val="3AC5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0226101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15CCE2-E2D2-41FC-B093-E0DE47D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5FF"/>
                </a:solidFill>
              </a:rPr>
              <a:t>Code: Daten summieren 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9EBDFACB-5419-4035-BF65-7AB1DA74B2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745700"/>
            <a:ext cx="10515600" cy="2511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81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15CCE2-E2D2-41FC-B093-E0DE47D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5FF"/>
                </a:solidFill>
              </a:rPr>
              <a:t>Schritt 4: Visualisierung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ED49B44-976A-4EE7-B502-7D4675D1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Diagramm mit Bibliothek </a:t>
            </a:r>
            <a:r>
              <a:rPr lang="de-DE" dirty="0" err="1">
                <a:solidFill>
                  <a:schemeClr val="bg1"/>
                </a:solidFill>
              </a:rPr>
              <a:t>matplotlib</a:t>
            </a:r>
            <a:r>
              <a:rPr lang="de-DE" dirty="0">
                <a:solidFill>
                  <a:schemeClr val="bg1"/>
                </a:solidFill>
              </a:rPr>
              <a:t> erstellen 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Standardaufgabe:</a:t>
            </a:r>
          </a:p>
          <a:p>
            <a:pPr lvl="1"/>
            <a:r>
              <a:rPr lang="de-DE" dirty="0">
                <a:solidFill>
                  <a:schemeClr val="bg1"/>
                </a:solidFill>
              </a:rPr>
              <a:t>Diagramm-Titel:</a:t>
            </a:r>
          </a:p>
          <a:p>
            <a:pPr lvl="1"/>
            <a:endParaRPr lang="de-DE" dirty="0">
              <a:solidFill>
                <a:schemeClr val="bg1"/>
              </a:solidFill>
            </a:endParaRPr>
          </a:p>
          <a:p>
            <a:pPr lvl="1"/>
            <a:r>
              <a:rPr lang="de-DE" dirty="0">
                <a:solidFill>
                  <a:schemeClr val="bg1"/>
                </a:solidFill>
              </a:rPr>
              <a:t>Zusatzaufgabe 1: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D5B608-FBDC-40C3-8EC9-19172E33E876}"/>
              </a:ext>
            </a:extLst>
          </p:cNvPr>
          <p:cNvSpPr txBox="1"/>
          <p:nvPr/>
        </p:nvSpPr>
        <p:spPr>
          <a:xfrm>
            <a:off x="3875315" y="2301523"/>
            <a:ext cx="146957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plt.plot</a:t>
            </a:r>
            <a:endParaRPr lang="de-DE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AC1A450C-ABC5-4336-8F37-4F278CD695B8}"/>
              </a:ext>
            </a:extLst>
          </p:cNvPr>
          <p:cNvSpPr txBox="1"/>
          <p:nvPr/>
        </p:nvSpPr>
        <p:spPr>
          <a:xfrm>
            <a:off x="3864429" y="3472544"/>
            <a:ext cx="7904728" cy="369332"/>
          </a:xfrm>
          <a:prstGeom prst="rect">
            <a:avLst/>
          </a:prstGeom>
          <a:solidFill>
            <a:srgbClr val="1E293B"/>
          </a:solidFill>
        </p:spPr>
        <p:txBody>
          <a:bodyPr wrap="none" rtlCol="0">
            <a:spAutoFit/>
          </a:bodyPr>
          <a:lstStyle/>
          <a:p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plt.bar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x_axis_clean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[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y_axis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[x] for x in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x_axis_clean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])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B0B3F6B4-475F-484C-A502-38B7AEF1C2C4}"/>
              </a:ext>
            </a:extLst>
          </p:cNvPr>
          <p:cNvSpPr txBox="1"/>
          <p:nvPr/>
        </p:nvSpPr>
        <p:spPr>
          <a:xfrm>
            <a:off x="3684814" y="2695754"/>
            <a:ext cx="1850571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  <p:sp>
        <p:nvSpPr>
          <p:cNvPr id="4" name="Pfeil: nach oben 14">
            <a:extLst>
              <a:ext uri="{FF2B5EF4-FFF2-40B4-BE49-F238E27FC236}">
                <a16:creationId xmlns:a16="http://schemas.microsoft.com/office/drawing/2014/main" id="{2ED98646-B862-32A6-9308-8B0691A02BF6}"/>
              </a:ext>
            </a:extLst>
          </p:cNvPr>
          <p:cNvSpPr/>
          <p:nvPr/>
        </p:nvSpPr>
        <p:spPr>
          <a:xfrm>
            <a:off x="4479470" y="3948564"/>
            <a:ext cx="261257" cy="741405"/>
          </a:xfrm>
          <a:prstGeom prst="upArrow">
            <a:avLst/>
          </a:prstGeom>
          <a:solidFill>
            <a:srgbClr val="3AC5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3">
            <a:extLst>
              <a:ext uri="{FF2B5EF4-FFF2-40B4-BE49-F238E27FC236}">
                <a16:creationId xmlns:a16="http://schemas.microsoft.com/office/drawing/2014/main" id="{D84E727E-C83A-589B-18C0-5CDF68924A07}"/>
              </a:ext>
            </a:extLst>
          </p:cNvPr>
          <p:cNvSpPr/>
          <p:nvPr/>
        </p:nvSpPr>
        <p:spPr>
          <a:xfrm>
            <a:off x="3001886" y="4809364"/>
            <a:ext cx="2955168" cy="4001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r>
              <a:rPr lang="de-DE" sz="2000" dirty="0">
                <a:solidFill>
                  <a:schemeClr val="bg1"/>
                </a:solidFill>
              </a:rPr>
              <a:t>Balkendiagramm erstellen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1059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15CCE2-E2D2-41FC-B093-E0DE47D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>
                <a:solidFill>
                  <a:srgbClr val="3AC5FF"/>
                </a:solidFill>
              </a:rPr>
              <a:t>Schritt 4: Visualisierung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ED49B44-976A-4EE7-B502-7D4675D1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de-DE">
                <a:solidFill>
                  <a:schemeClr val="bg1"/>
                </a:solidFill>
              </a:rPr>
              <a:t>Zusatzaufgabe 2:   </a:t>
            </a:r>
          </a:p>
          <a:p>
            <a:pPr lvl="2"/>
            <a:r>
              <a:rPr lang="de-DE">
                <a:solidFill>
                  <a:schemeClr val="bg1"/>
                </a:solidFill>
              </a:rPr>
              <a:t>Durchschnitt Umsatz:</a:t>
            </a: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  <a:p>
            <a:pPr lvl="2"/>
            <a:r>
              <a:rPr lang="de-DE">
                <a:solidFill>
                  <a:schemeClr val="bg1"/>
                </a:solidFill>
              </a:rPr>
              <a:t>Durchschnittsgerade plotten mit Legende:</a:t>
            </a:r>
            <a:endParaRPr lang="de-DE">
              <a:solidFill>
                <a:schemeClr val="bg1"/>
              </a:solidFill>
              <a:ea typeface="Calibri"/>
              <a:cs typeface="Calibri"/>
            </a:endParaRPr>
          </a:p>
          <a:p>
            <a:pPr lvl="2"/>
            <a:endParaRPr lang="de-DE">
              <a:solidFill>
                <a:schemeClr val="bg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1B3CB97-DA0E-412B-9985-DA8ED961EE2C}"/>
              </a:ext>
            </a:extLst>
          </p:cNvPr>
          <p:cNvSpPr txBox="1"/>
          <p:nvPr/>
        </p:nvSpPr>
        <p:spPr>
          <a:xfrm>
            <a:off x="1676400" y="2551837"/>
            <a:ext cx="7077579" cy="1754326"/>
          </a:xfrm>
          <a:prstGeom prst="rect">
            <a:avLst/>
          </a:prstGeom>
          <a:solidFill>
            <a:srgbClr val="1E293B"/>
          </a:solidFill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anzahl_werte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len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y_axis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anzahl_werte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&gt; 0:</a:t>
            </a: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durchschnitt =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gesamtumsatz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anzahl_werte</a:t>
            </a:r>
            <a:endParaRPr lang="de-DE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durchschnitt = 0</a:t>
            </a:r>
          </a:p>
          <a:p>
            <a:endParaRPr lang="de-DE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17BA2CD-7322-4E55-9083-68EDAA16A265}"/>
              </a:ext>
            </a:extLst>
          </p:cNvPr>
          <p:cNvSpPr txBox="1"/>
          <p:nvPr/>
        </p:nvSpPr>
        <p:spPr>
          <a:xfrm>
            <a:off x="1676400" y="4918397"/>
            <a:ext cx="7766870" cy="923330"/>
          </a:xfrm>
          <a:prstGeom prst="rect">
            <a:avLst/>
          </a:prstGeom>
          <a:solidFill>
            <a:srgbClr val="1E293B"/>
          </a:solidFill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plt.axhline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(y=durchschnitt,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color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='r',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linestyle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='--‘,</a:t>
            </a: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label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f'Ø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Umsatz: {durchschnitt:.2f}‘)</a:t>
            </a:r>
          </a:p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plt.legend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4462057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15CCE2-E2D2-41FC-B093-E0DE47D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5FF"/>
                </a:solidFill>
              </a:rPr>
              <a:t>Code: Diagramm erstellen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F509AE6-73BD-414E-8EC7-09245EC19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1384" y="1690688"/>
            <a:ext cx="9226146" cy="4039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341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315CCE2-E2D2-41FC-B093-E0DE47D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AC5FF"/>
                </a:solidFill>
              </a:rPr>
              <a:t>Matplotlib</a:t>
            </a:r>
            <a:r>
              <a:rPr lang="de-DE" b="1" dirty="0">
                <a:solidFill>
                  <a:srgbClr val="3AC5FF"/>
                </a:solidFill>
              </a:rPr>
              <a:t> Anpassungen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3ED49B44-976A-4EE7-B502-7D4675D11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>
                <a:solidFill>
                  <a:schemeClr val="bg1"/>
                </a:solidFill>
              </a:rPr>
              <a:t>C					   -Lesbare Labels </a:t>
            </a:r>
          </a:p>
          <a:p>
            <a:r>
              <a:rPr lang="de-DE">
                <a:solidFill>
                  <a:schemeClr val="bg1"/>
                </a:solidFill>
              </a:rPr>
              <a:t>	    			  	   - Platz für Label</a:t>
            </a:r>
          </a:p>
          <a:p>
            <a:r>
              <a:rPr lang="de-DE">
                <a:solidFill>
                  <a:schemeClr val="bg1"/>
                </a:solidFill>
              </a:rPr>
              <a:t>   		     -Dynamischer Titel mit Variablen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D6D5B608-FBDC-40C3-8EC9-19172E33E876}"/>
              </a:ext>
            </a:extLst>
          </p:cNvPr>
          <p:cNvSpPr txBox="1"/>
          <p:nvPr/>
        </p:nvSpPr>
        <p:spPr>
          <a:xfrm>
            <a:off x="1126671" y="1825625"/>
            <a:ext cx="4533900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plt.xticks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rotation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=`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vertical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`)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B4D2E244-75C4-487E-A042-FD8F46F48A08}"/>
              </a:ext>
            </a:extLst>
          </p:cNvPr>
          <p:cNvSpPr txBox="1"/>
          <p:nvPr/>
        </p:nvSpPr>
        <p:spPr>
          <a:xfrm>
            <a:off x="1126671" y="2362120"/>
            <a:ext cx="4620986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plt.subplots_adjust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bottom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 0.4)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7AFE4E07-D771-4E32-8C43-6CD8828E5A80}"/>
              </a:ext>
            </a:extLst>
          </p:cNvPr>
          <p:cNvSpPr txBox="1"/>
          <p:nvPr/>
        </p:nvSpPr>
        <p:spPr>
          <a:xfrm>
            <a:off x="1224642" y="2859445"/>
            <a:ext cx="1850571" cy="369332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plt.title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727756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AC5FF"/>
                </a:solidFill>
              </a:rPr>
              <a:t>Debugging:DEBUG_INFO</a:t>
            </a:r>
            <a:r>
              <a:rPr lang="de-DE" b="1" dirty="0">
                <a:solidFill>
                  <a:srgbClr val="3AC5FF"/>
                </a:solidFill>
              </a:rPr>
              <a:t> </a:t>
            </a:r>
            <a:r>
              <a:rPr lang="de-DE" b="1" dirty="0" err="1">
                <a:solidFill>
                  <a:srgbClr val="3AC5FF"/>
                </a:solidFill>
              </a:rPr>
              <a:t>Flag</a:t>
            </a:r>
            <a:r>
              <a:rPr lang="de-DE" b="1" dirty="0">
                <a:solidFill>
                  <a:srgbClr val="3AC5FF"/>
                </a:solidFill>
              </a:rPr>
              <a:t> </a:t>
            </a:r>
            <a:endParaRPr lang="de-DE" dirty="0">
              <a:solidFill>
                <a:srgbClr val="3AC4FF"/>
              </a:solidFill>
            </a:endParaRP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E6A024D4-DA6F-4635-B652-F8E5193B5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>
                <a:solidFill>
                  <a:schemeClr val="bg1"/>
                </a:solidFill>
              </a:rPr>
              <a:t>Kontrolliert Ausgaben zur Fehlersuche </a:t>
            </a:r>
          </a:p>
          <a:p>
            <a:pPr lvl="1"/>
            <a:r>
              <a:rPr lang="de-DE">
                <a:solidFill>
                  <a:schemeClr val="bg1"/>
                </a:solidFill>
              </a:rPr>
              <a:t>Global:</a:t>
            </a:r>
          </a:p>
          <a:p>
            <a:pPr lvl="1"/>
            <a:r>
              <a:rPr lang="de-DE">
                <a:solidFill>
                  <a:schemeClr val="bg1"/>
                </a:solidFill>
              </a:rPr>
              <a:t>Bei True: Zusätzliche </a:t>
            </a:r>
            <a:r>
              <a:rPr lang="de-DE" err="1">
                <a:solidFill>
                  <a:schemeClr val="bg1"/>
                </a:solidFill>
              </a:rPr>
              <a:t>print</a:t>
            </a:r>
            <a:r>
              <a:rPr lang="de-DE">
                <a:solidFill>
                  <a:schemeClr val="bg1"/>
                </a:solidFill>
              </a:rPr>
              <a:t>()-Ausgaben</a:t>
            </a:r>
          </a:p>
          <a:p>
            <a:pPr lvl="1"/>
            <a:r>
              <a:rPr lang="de-DE">
                <a:solidFill>
                  <a:schemeClr val="bg1"/>
                </a:solidFill>
              </a:rPr>
              <a:t>Zeigt </a:t>
            </a:r>
            <a:r>
              <a:rPr lang="de-DE" err="1">
                <a:solidFill>
                  <a:schemeClr val="bg1"/>
                </a:solidFill>
              </a:rPr>
              <a:t>DataFrame,Header</a:t>
            </a:r>
            <a:r>
              <a:rPr lang="de-DE">
                <a:solidFill>
                  <a:schemeClr val="bg1"/>
                </a:solidFill>
              </a:rPr>
              <a:t>, </a:t>
            </a:r>
            <a:r>
              <a:rPr lang="de-DE" err="1">
                <a:solidFill>
                  <a:schemeClr val="bg1"/>
                </a:solidFill>
              </a:rPr>
              <a:t>x_axis_clean</a:t>
            </a:r>
            <a:r>
              <a:rPr lang="de-DE">
                <a:solidFill>
                  <a:schemeClr val="bg1"/>
                </a:solidFill>
              </a:rPr>
              <a:t>:</a:t>
            </a:r>
          </a:p>
          <a:p>
            <a:pPr lvl="1"/>
            <a:endParaRPr lang="de-DE">
              <a:solidFill>
                <a:schemeClr val="bg1"/>
              </a:solidFill>
            </a:endParaRPr>
          </a:p>
          <a:p>
            <a:pPr lvl="1"/>
            <a:endParaRPr lang="de-DE">
              <a:solidFill>
                <a:schemeClr val="bg1"/>
              </a:solidFill>
            </a:endParaRPr>
          </a:p>
          <a:p>
            <a:pPr marL="457200" lvl="1" indent="0">
              <a:buNone/>
            </a:pPr>
            <a:endParaRPr lang="de-DE">
              <a:solidFill>
                <a:schemeClr val="bg1"/>
              </a:solidFill>
            </a:endParaRPr>
          </a:p>
          <a:p>
            <a:pPr lvl="1"/>
            <a:endParaRPr lang="de-DE">
              <a:solidFill>
                <a:schemeClr val="bg1"/>
              </a:solidFill>
            </a:endParaRPr>
          </a:p>
          <a:p>
            <a:pPr lvl="1"/>
            <a:r>
              <a:rPr lang="de-DE">
                <a:solidFill>
                  <a:schemeClr val="bg1"/>
                </a:solidFill>
              </a:rPr>
              <a:t>Hilft bei Verständnis der Datenstruktur 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0816933B-275C-4400-BD20-768B7790E501}"/>
              </a:ext>
            </a:extLst>
          </p:cNvPr>
          <p:cNvSpPr txBox="1"/>
          <p:nvPr/>
        </p:nvSpPr>
        <p:spPr>
          <a:xfrm>
            <a:off x="2590800" y="2307772"/>
            <a:ext cx="2528256" cy="369332"/>
          </a:xfrm>
          <a:prstGeom prst="rect">
            <a:avLst/>
          </a:prstGeom>
          <a:solidFill>
            <a:srgbClr val="1E293B"/>
          </a:solidFill>
        </p:spPr>
        <p:txBody>
          <a:bodyPr wrap="none" rtlCol="0">
            <a:spAutoFit/>
          </a:bodyPr>
          <a:lstStyle/>
          <a:p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DEBUG_INFO=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False</a:t>
            </a:r>
            <a:endParaRPr lang="de-DE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39FC7605-3141-4125-B503-B8EFDB54F588}"/>
              </a:ext>
            </a:extLst>
          </p:cNvPr>
          <p:cNvSpPr txBox="1"/>
          <p:nvPr/>
        </p:nvSpPr>
        <p:spPr>
          <a:xfrm>
            <a:off x="1382486" y="3592286"/>
            <a:ext cx="10417628" cy="923330"/>
          </a:xfrm>
          <a:prstGeom prst="rect">
            <a:avLst/>
          </a:prstGeom>
          <a:solidFill>
            <a:srgbClr val="1E293B"/>
          </a:solidFill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Debug_INFO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(„All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sheet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names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:“ ,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xl.sheet_names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Debug_INFO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de-DE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f“df</a:t>
            </a:r>
            <a:r>
              <a:rPr lang="de-DE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de-DE">
                <a:solidFill>
                  <a:schemeClr val="bg1"/>
                </a:solidFill>
              </a:rPr>
              <a:t>{ </a:t>
            </a:r>
            <a:r>
              <a:rPr lang="de-DE" err="1">
                <a:solidFill>
                  <a:schemeClr val="bg1"/>
                </a:solidFill>
              </a:rPr>
              <a:t>df</a:t>
            </a:r>
            <a:r>
              <a:rPr lang="de-DE">
                <a:solidFill>
                  <a:schemeClr val="bg1"/>
                </a:solidFill>
              </a:rPr>
              <a:t> } “)</a:t>
            </a:r>
          </a:p>
          <a:p>
            <a:r>
              <a:rPr lang="de-DE">
                <a:solidFill>
                  <a:schemeClr val="bg1"/>
                </a:solidFill>
                <a:latin typeface="Courier New"/>
                <a:cs typeface="Courier New"/>
              </a:rPr>
              <a:t>if </a:t>
            </a:r>
            <a:r>
              <a:rPr lang="de-DE" err="1">
                <a:solidFill>
                  <a:schemeClr val="bg1"/>
                </a:solidFill>
                <a:latin typeface="Courier New"/>
                <a:cs typeface="Courier New"/>
              </a:rPr>
              <a:t>Debug_INFO</a:t>
            </a:r>
            <a:r>
              <a:rPr lang="de-DE">
                <a:solidFill>
                  <a:schemeClr val="bg1"/>
                </a:solidFill>
                <a:latin typeface="Courier New"/>
                <a:cs typeface="Courier New"/>
              </a:rPr>
              <a:t>: </a:t>
            </a:r>
            <a:r>
              <a:rPr lang="de-DE" err="1">
                <a:solidFill>
                  <a:schemeClr val="bg1"/>
                </a:solidFill>
                <a:latin typeface="Courier New"/>
                <a:cs typeface="Courier New"/>
              </a:rPr>
              <a:t>print</a:t>
            </a:r>
            <a:r>
              <a:rPr lang="de-DE">
                <a:solidFill>
                  <a:schemeClr val="bg1"/>
                </a:solidFill>
                <a:latin typeface="Courier New"/>
                <a:cs typeface="Courier New"/>
              </a:rPr>
              <a:t>(</a:t>
            </a:r>
            <a:r>
              <a:rPr lang="de-DE" err="1">
                <a:solidFill>
                  <a:schemeClr val="bg1"/>
                </a:solidFill>
                <a:latin typeface="Courier New"/>
                <a:cs typeface="Courier New"/>
              </a:rPr>
              <a:t>f“x_axis_clean</a:t>
            </a:r>
            <a:r>
              <a:rPr lang="de-DE">
                <a:solidFill>
                  <a:schemeClr val="bg1"/>
                </a:solidFill>
                <a:latin typeface="Courier New"/>
                <a:cs typeface="Courier New"/>
              </a:rPr>
              <a:t>: </a:t>
            </a:r>
            <a:r>
              <a:rPr lang="de-DE">
                <a:solidFill>
                  <a:schemeClr val="bg1"/>
                </a:solidFill>
              </a:rPr>
              <a:t>{</a:t>
            </a:r>
            <a:r>
              <a:rPr lang="de-DE" err="1">
                <a:solidFill>
                  <a:schemeClr val="bg1"/>
                </a:solidFill>
              </a:rPr>
              <a:t>x_axis_clean</a:t>
            </a:r>
            <a:r>
              <a:rPr lang="de-DE">
                <a:solidFill>
                  <a:schemeClr val="bg1"/>
                </a:solidFill>
              </a:rPr>
              <a:t>}“ )</a:t>
            </a:r>
            <a:endParaRPr lang="de-DE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18159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AC5FF"/>
                </a:solidFill>
              </a:rPr>
              <a:t>Exception</a:t>
            </a:r>
            <a:r>
              <a:rPr lang="de-DE" b="1" dirty="0">
                <a:solidFill>
                  <a:srgbClr val="3AC5FF"/>
                </a:solidFill>
              </a:rPr>
              <a:t> Handling </a:t>
            </a:r>
            <a:endParaRPr lang="de-DE" dirty="0">
              <a:solidFill>
                <a:srgbClr val="3AC4FF"/>
              </a:solidFill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06148E8-A137-4EFB-A31E-DF3BD17C7A58}"/>
              </a:ext>
            </a:extLst>
          </p:cNvPr>
          <p:cNvSpPr txBox="1"/>
          <p:nvPr/>
        </p:nvSpPr>
        <p:spPr>
          <a:xfrm>
            <a:off x="838200" y="1981200"/>
            <a:ext cx="9372600" cy="2308324"/>
          </a:xfrm>
          <a:prstGeom prst="rect">
            <a:avLst/>
          </a:prstGeom>
          <a:solidFill>
            <a:srgbClr val="1E293B"/>
          </a:solidFill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try:</a:t>
            </a:r>
          </a:p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df,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header_row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number_of_headers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xfile_read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wdir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	      	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infile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table_name</a:t>
            </a:r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 Exception as e:</a:t>
            </a:r>
          </a:p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print(e)</a:t>
            </a:r>
          </a:p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print(f" )? Error: {e}")</a:t>
            </a:r>
          </a:p>
          <a:p>
            <a:r>
              <a:rPr lang="en-US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      raise </a:t>
            </a:r>
            <a:r>
              <a:rPr lang="en-US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SystemExit</a:t>
            </a:r>
            <a:endParaRPr lang="en-US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99746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5FF"/>
                </a:solidFill>
              </a:rPr>
              <a:t>User Input Validierung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BA297F-1002-4D4D-AB85-B5DE753C1D99}"/>
              </a:ext>
            </a:extLst>
          </p:cNvPr>
          <p:cNvSpPr txBox="1"/>
          <p:nvPr/>
        </p:nvSpPr>
        <p:spPr>
          <a:xfrm>
            <a:off x="838200" y="1745117"/>
            <a:ext cx="96120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err="1">
                <a:solidFill>
                  <a:schemeClr val="bg1"/>
                </a:solidFill>
              </a:rPr>
              <a:t>While</a:t>
            </a:r>
            <a:r>
              <a:rPr lang="de-DE" sz="2800">
                <a:solidFill>
                  <a:schemeClr val="bg1"/>
                </a:solidFill>
              </a:rPr>
              <a:t>-Schleife für korrekte Eingaben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K/k → "Kunde", P/p → "Produkt"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1-4 → "</a:t>
            </a:r>
            <a:r>
              <a:rPr lang="de-DE" sz="2800" err="1">
                <a:solidFill>
                  <a:schemeClr val="bg1"/>
                </a:solidFill>
              </a:rPr>
              <a:t>Qrtl</a:t>
            </a:r>
            <a:r>
              <a:rPr lang="de-DE" sz="2800">
                <a:solidFill>
                  <a:schemeClr val="bg1"/>
                </a:solidFill>
              </a:rPr>
              <a:t> 1" bis "</a:t>
            </a:r>
            <a:r>
              <a:rPr lang="de-DE" sz="2800" err="1">
                <a:solidFill>
                  <a:schemeClr val="bg1"/>
                </a:solidFill>
              </a:rPr>
              <a:t>Qrtl</a:t>
            </a:r>
            <a:r>
              <a:rPr lang="de-DE" sz="2800">
                <a:solidFill>
                  <a:schemeClr val="bg1"/>
                </a:solidFill>
              </a:rPr>
              <a:t> 4"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alle/all/a → "all"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Leere Eingabe → Programm beenden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de-DE" sz="2800"/>
          </a:p>
        </p:txBody>
      </p:sp>
    </p:spTree>
    <p:extLst>
      <p:ext uri="{BB962C8B-B14F-4D97-AF65-F5344CB8AC3E}">
        <p14:creationId xmlns:p14="http://schemas.microsoft.com/office/powerpoint/2010/main" val="1841102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>
                <a:solidFill>
                  <a:srgbClr val="3AC5FF"/>
                </a:solidFill>
              </a:rPr>
              <a:t>Ergebnisse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BA297F-1002-4D4D-AB85-B5DE753C1D99}"/>
              </a:ext>
            </a:extLst>
          </p:cNvPr>
          <p:cNvSpPr txBox="1"/>
          <p:nvPr/>
        </p:nvSpPr>
        <p:spPr>
          <a:xfrm>
            <a:off x="838200" y="1745117"/>
            <a:ext cx="9612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Erfolgreiche Analyse von Excel-Umsatzdaten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Flexible Auswertung nach Kunde oder Produkt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Quartalsweise oder Gesamtbetrachtung möglich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Übersichtliche Visualisierung mit Durchschnitt</a:t>
            </a:r>
          </a:p>
        </p:txBody>
      </p:sp>
    </p:spTree>
    <p:extLst>
      <p:ext uri="{BB962C8B-B14F-4D97-AF65-F5344CB8AC3E}">
        <p14:creationId xmlns:p14="http://schemas.microsoft.com/office/powerpoint/2010/main" val="3751350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F81BDB-0FF4-40FD-9BB0-C1DCAC95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 err="1">
                <a:solidFill>
                  <a:srgbClr val="3AC5FF"/>
                </a:solidFill>
              </a:rPr>
              <a:t>Lesson</a:t>
            </a:r>
            <a:r>
              <a:rPr lang="de-DE" b="1" dirty="0">
                <a:solidFill>
                  <a:srgbClr val="3AC5FF"/>
                </a:solidFill>
              </a:rPr>
              <a:t> </a:t>
            </a:r>
            <a:r>
              <a:rPr lang="de-DE" b="1" dirty="0" err="1">
                <a:solidFill>
                  <a:srgbClr val="3AC5FF"/>
                </a:solidFill>
              </a:rPr>
              <a:t>learnd</a:t>
            </a:r>
            <a:endParaRPr lang="de-DE" b="1" dirty="0">
              <a:solidFill>
                <a:srgbClr val="3AC5FF"/>
              </a:solidFill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4BA297F-1002-4D4D-AB85-B5DE753C1D99}"/>
              </a:ext>
            </a:extLst>
          </p:cNvPr>
          <p:cNvSpPr txBox="1"/>
          <p:nvPr/>
        </p:nvSpPr>
        <p:spPr>
          <a:xfrm>
            <a:off x="838200" y="1745117"/>
            <a:ext cx="961208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Pandas </a:t>
            </a:r>
            <a:r>
              <a:rPr lang="de-DE" sz="2800" err="1">
                <a:solidFill>
                  <a:schemeClr val="bg1"/>
                </a:solidFill>
              </a:rPr>
              <a:t>DataFrames</a:t>
            </a:r>
            <a:r>
              <a:rPr lang="de-DE" sz="2800">
                <a:solidFill>
                  <a:schemeClr val="bg1"/>
                </a:solidFill>
              </a:rPr>
              <a:t> effektiv nutzen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Excel-Integration mit </a:t>
            </a:r>
            <a:r>
              <a:rPr lang="de-DE" sz="2800" err="1">
                <a:solidFill>
                  <a:schemeClr val="bg1"/>
                </a:solidFill>
              </a:rPr>
              <a:t>openpyxl</a:t>
            </a:r>
            <a:endParaRPr lang="de-DE" sz="2800">
              <a:solidFill>
                <a:schemeClr val="bg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 err="1">
                <a:solidFill>
                  <a:schemeClr val="bg1"/>
                </a:solidFill>
              </a:rPr>
              <a:t>Matplotlib</a:t>
            </a:r>
            <a:r>
              <a:rPr lang="de-DE" sz="2800">
                <a:solidFill>
                  <a:schemeClr val="bg1"/>
                </a:solidFill>
              </a:rPr>
              <a:t> für professionelle Diagramme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de-DE" sz="2800">
                <a:solidFill>
                  <a:schemeClr val="bg1"/>
                </a:solidFill>
              </a:rPr>
              <a:t>DEBUG_INFO für strukturiertes Debugging</a:t>
            </a:r>
          </a:p>
        </p:txBody>
      </p:sp>
    </p:spTree>
    <p:extLst>
      <p:ext uri="{BB962C8B-B14F-4D97-AF65-F5344CB8AC3E}">
        <p14:creationId xmlns:p14="http://schemas.microsoft.com/office/powerpoint/2010/main" val="2570295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1053</Words>
  <Application>Microsoft Office PowerPoint</Application>
  <PresentationFormat>Breitbild</PresentationFormat>
  <Paragraphs>160</Paragraphs>
  <Slides>20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20</vt:i4>
      </vt:variant>
    </vt:vector>
  </HeadingPairs>
  <TitlesOfParts>
    <vt:vector size="27" baseType="lpstr">
      <vt:lpstr>Arial</vt:lpstr>
      <vt:lpstr>Calibri</vt:lpstr>
      <vt:lpstr>Calibri Light</vt:lpstr>
      <vt:lpstr>Consolas</vt:lpstr>
      <vt:lpstr>Courier New</vt:lpstr>
      <vt:lpstr>Wingdings</vt:lpstr>
      <vt:lpstr>Office</vt:lpstr>
      <vt:lpstr>Projekt 2 </vt:lpstr>
      <vt:lpstr>Agenda </vt:lpstr>
      <vt:lpstr>Projektübersicht </vt:lpstr>
      <vt:lpstr>Dependencies </vt:lpstr>
      <vt:lpstr>Schritt 1: Excel-Datei einlesen</vt:lpstr>
      <vt:lpstr>Schritt 1: Code</vt:lpstr>
      <vt:lpstr>Schritt 2: Datenaufbereitung</vt:lpstr>
      <vt:lpstr>Schritt 2: Code</vt:lpstr>
      <vt:lpstr>Schritt 3: Daten aggregieren</vt:lpstr>
      <vt:lpstr>PowerPoint-Präsentation</vt:lpstr>
      <vt:lpstr>Code: Daten summieren </vt:lpstr>
      <vt:lpstr>Schritt 4: Visualisierung</vt:lpstr>
      <vt:lpstr>Schritt 4: Visualisierung </vt:lpstr>
      <vt:lpstr>Code: Diagramm erstellen</vt:lpstr>
      <vt:lpstr>Matplotlib Anpassungen </vt:lpstr>
      <vt:lpstr>Debugging:DEBUG_INFO Flag </vt:lpstr>
      <vt:lpstr>Exception Handling </vt:lpstr>
      <vt:lpstr>User Input Validierung</vt:lpstr>
      <vt:lpstr>Ergebnisse</vt:lpstr>
      <vt:lpstr>Lesson learnd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Projekt 2</dc:title>
  <dc:creator>Ullmann Quirin (wiw25020)</dc:creator>
  <cp:lastModifiedBy>Ullmann Quirin (wiw25020)</cp:lastModifiedBy>
  <cp:revision>29</cp:revision>
  <dcterms:created xsi:type="dcterms:W3CDTF">2026-02-02T09:12:18Z</dcterms:created>
  <dcterms:modified xsi:type="dcterms:W3CDTF">2026-02-04T14:19:19Z</dcterms:modified>
</cp:coreProperties>
</file>